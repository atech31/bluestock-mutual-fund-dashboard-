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52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742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5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454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76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36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558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32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016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9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88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42937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912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2783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847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19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31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907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162" y="2097434"/>
            <a:ext cx="2733675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10501" y="2564159"/>
            <a:ext cx="7970996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sz="4200" b="1" i="0" u="none">
                <a:solidFill>
                  <a:srgbClr val="1E3A8A"/>
                </a:solidFill>
                <a:latin typeface="Poppins"/>
              </a:rPr>
              <a:t>Mutual Fund Analytics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293715"/>
            <a:ext cx="8096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Inter"/>
              </a:rPr>
              <a:t>An End-to-End Analytics Platform for Fund Performance, Investor Demographics, and SIP Market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8650" y="4417665"/>
            <a:ext cx="33147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Prepared by: </a:t>
            </a:r>
            <a:r>
              <a:rPr sz="1200" b="1" i="0" u="none">
                <a:solidFill>
                  <a:srgbClr val="64748B"/>
                </a:solidFill>
                <a:latin typeface="Inter"/>
              </a:rPr>
              <a:t>Kunal Ahire</a:t>
            </a:r>
            <a:r>
              <a:rPr sz="1200" b="0" i="0" u="none">
                <a:solidFill>
                  <a:srgbClr val="64748B"/>
                </a:solidFill>
                <a:latin typeface="Inter"/>
              </a:rPr>
              <a:t> | Data Analyst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19400"/>
            <a:ext cx="5334000" cy="2162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19400"/>
            <a:ext cx="5334000" cy="216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3114675"/>
            <a:ext cx="4980622" cy="333375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40AF"/>
                </a:solidFill>
                <a:latin typeface="Poppins SemiBold"/>
              </a:rPr>
              <a:t>Project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543300"/>
            <a:ext cx="4743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Designed and deployed an interactive 4-page Business Intelligence suite enabling fund managers to analyze macro sector trends, risk-adjusted returns, investor demographics, and systematic inflows.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114675"/>
            <a:ext cx="4980622" cy="333375"/>
          </a:xfrm>
          <a:prstGeom prst="rect">
            <a:avLst/>
          </a:prstGeom>
          <a:noFill/>
        </p:spPr>
        <p:txBody>
          <a:bodyPr wrap="square" lIns="257175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40AF"/>
                </a:solidFill>
                <a:latin typeface="Poppins SemiBold"/>
              </a:rPr>
              <a:t>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543300"/>
            <a:ext cx="4743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Built on a robust 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Star Schema Data Model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integrating PostgreSQL data pipelines, Python EDA scripts (`scipy`, `pandas`), and optimized Power BI DAX measures for real-time aggregation.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3162300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162300"/>
            <a:ext cx="25717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1E293B"/>
                </a:solidFill>
                <a:latin typeface="Poppins SemiBold"/>
              </a:rPr>
              <a:t>Executive Overview &amp;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86037"/>
            <a:ext cx="3524250" cy="2628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586037"/>
            <a:ext cx="3524250" cy="2628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586037"/>
            <a:ext cx="3524250" cy="2628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3395662"/>
            <a:ext cx="31803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Poppins SemiBold"/>
              </a:rPr>
              <a:t>AUM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824287"/>
            <a:ext cx="30289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Tracks aggregate Assets Under Management (AUM) trends across AMC fund houses with macro-level category distribution.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1525" y="3395662"/>
            <a:ext cx="31803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Poppins SemiBold"/>
              </a:rPr>
              <a:t>Category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525" y="3824287"/>
            <a:ext cx="30289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Evaluates asset allocation proportions across Equity, Hybrid, Debt, and Index/Passive fund categories.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3900" y="3395662"/>
            <a:ext cx="31803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Poppins SemiBold"/>
              </a:rPr>
              <a:t>AMC Market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824287"/>
            <a:ext cx="3028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Ranks major Asset Management Companies by market capital share and active folio counts.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871787"/>
            <a:ext cx="39052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525" y="2871787"/>
            <a:ext cx="39052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2871787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1E293B"/>
                </a:solidFill>
                <a:latin typeface="Poppins SemiBold"/>
              </a:rPr>
              <a:t>Page 1: Industry &amp; Fund Overview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67050"/>
            <a:ext cx="3867150" cy="1666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3448050"/>
            <a:ext cx="32956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FFFFFF"/>
                </a:solidFill>
                <a:latin typeface="Poppins"/>
              </a:rPr>
              <a:t>8.4%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4152900"/>
            <a:ext cx="32956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93C5FD"/>
                </a:solidFill>
                <a:latin typeface="Inter Medium"/>
              </a:rPr>
              <a:t>Avg 3-Year CAGR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19650" y="2638425"/>
            <a:ext cx="714089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Poppins SemiBold"/>
              </a:rPr>
              <a:t>Risk-Adjusted Return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9650" y="3067050"/>
            <a:ext cx="6800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Computes risk metrics across 40 schemes against standard market benchmarks (Nifty 50 / Nifty 100):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4900" y="372427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0150" y="3724275"/>
            <a:ext cx="6610350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Sharpe &amp; Sortino Ratios: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Standard risk-adjusted returns using RBI Repo Rate proxy (6.5%).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4900" y="423862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150" y="4238625"/>
            <a:ext cx="6610350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Alpha &amp; Beta Indicators: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OLS regression against benchmark indices.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4900" y="449580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150" y="4495800"/>
            <a:ext cx="6610350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Fund Scorecard (0-100):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Composite rating based on CAGR, Sharpe ratio, and Inverse Expense Ratio.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1E293B"/>
                </a:solidFill>
                <a:latin typeface="Poppins SemiBold"/>
              </a:rPr>
              <a:t>Page 2: Fund Performance &amp; Risk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19225"/>
            <a:ext cx="11049000" cy="4962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1E293B"/>
                </a:solidFill>
                <a:latin typeface="Poppins SemiBold"/>
              </a:rPr>
              <a:t>Page 3: Investor Demographics &amp; Behavioral Profiling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757487"/>
          <a:ext cx="1104899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4274"/>
                <a:gridCol w="2042666"/>
                <a:gridCol w="2564903"/>
                <a:gridCol w="4387155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SIP Growth Tier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Avg Ticket Size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Dominant Age Group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Key Growth Factor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Tier 1 Cities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₹3,500 / month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25–38 Years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Digital Onboarding &amp; Tax Saving (ELSS)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Tier 2 Cities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₹2,000 / month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30–45 Years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Financial Inclusion &amp; AMC Awareness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Tier 3 Cities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₹1,000 / month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22–35 Years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Micro-SIP Adoption &amp; Mobile Apps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3314700"/>
            <a:ext cx="20542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625774" y="3314700"/>
            <a:ext cx="20426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668440" y="3314700"/>
            <a:ext cx="25649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33344" y="3314700"/>
            <a:ext cx="43871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886200"/>
            <a:ext cx="20542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25774" y="3886200"/>
            <a:ext cx="20426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68440" y="3886200"/>
            <a:ext cx="25649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233344" y="3886200"/>
            <a:ext cx="43871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4457700"/>
            <a:ext cx="20542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25774" y="4457700"/>
            <a:ext cx="20426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68440" y="4457700"/>
            <a:ext cx="25649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33344" y="4457700"/>
            <a:ext cx="43871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5029200"/>
            <a:ext cx="20542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25774" y="5029200"/>
            <a:ext cx="20426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68440" y="5029200"/>
            <a:ext cx="25649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33344" y="5029200"/>
            <a:ext cx="43871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1E293B"/>
                </a:solidFill>
                <a:latin typeface="Poppins SemiBold"/>
              </a:rPr>
              <a:t>Page 4: SIP Trends &amp; Historical Inflows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5472" y="2419350"/>
            <a:ext cx="844105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1E3A8A"/>
                </a:solidFill>
                <a:latin typeface="Poppins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76450" y="3467100"/>
            <a:ext cx="80391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Inter"/>
              </a:rPr>
              <a:t>Bluestock FinTech Mutual Fund Analytics Suite Project Completed Successfully.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326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Century Gothic</vt:lpstr>
      <vt:lpstr>Inter</vt:lpstr>
      <vt:lpstr>Inter Medium</vt:lpstr>
      <vt:lpstr>Inter SemiBold</vt:lpstr>
      <vt:lpstr>Poppins</vt:lpstr>
      <vt:lpstr>Poppins SemiBold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3</cp:revision>
  <dcterms:created xsi:type="dcterms:W3CDTF">2013-01-27T09:14:16Z</dcterms:created>
  <dcterms:modified xsi:type="dcterms:W3CDTF">2026-09-10T10:00:20Z</dcterms:modified>
  <cp:category/>
</cp:coreProperties>
</file>